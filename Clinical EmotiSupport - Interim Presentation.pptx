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j02tLe+F2rpdwyWn8NIapz/5h8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37B1A5-B526-4F21-96D4-50989486AB7A}">
  <a:tblStyle styleId="{6337B1A5-B526-4F21-96D4-50989486AB7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00CC919-D8A9-4820-A627-C5904C33AFAE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1f5a2ccb8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b1f5a2ccb8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b1f5a2ccb8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6.png"/><Relationship Id="rId4" Type="http://schemas.openxmlformats.org/officeDocument/2006/relationships/image" Target="../media/image14.png"/><Relationship Id="rId9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3.png"/><Relationship Id="rId13" Type="http://schemas.openxmlformats.org/officeDocument/2006/relationships/image" Target="../media/image1.png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6.png"/><Relationship Id="rId4" Type="http://schemas.openxmlformats.org/officeDocument/2006/relationships/image" Target="../media/image9.png"/><Relationship Id="rId9" Type="http://schemas.openxmlformats.org/officeDocument/2006/relationships/image" Target="../media/image10.png"/><Relationship Id="rId15" Type="http://schemas.openxmlformats.org/officeDocument/2006/relationships/image" Target="../media/image26.png"/><Relationship Id="rId14" Type="http://schemas.openxmlformats.org/officeDocument/2006/relationships/image" Target="../media/image15.png"/><Relationship Id="rId17" Type="http://schemas.openxmlformats.org/officeDocument/2006/relationships/image" Target="../media/image16.png"/><Relationship Id="rId16" Type="http://schemas.openxmlformats.org/officeDocument/2006/relationships/image" Target="../media/image11.png"/><Relationship Id="rId5" Type="http://schemas.openxmlformats.org/officeDocument/2006/relationships/image" Target="../media/image12.png"/><Relationship Id="rId19" Type="http://schemas.openxmlformats.org/officeDocument/2006/relationships/image" Target="../media/image23.png"/><Relationship Id="rId6" Type="http://schemas.openxmlformats.org/officeDocument/2006/relationships/image" Target="../media/image49.png"/><Relationship Id="rId18" Type="http://schemas.openxmlformats.org/officeDocument/2006/relationships/image" Target="../media/image24.png"/><Relationship Id="rId7" Type="http://schemas.openxmlformats.org/officeDocument/2006/relationships/image" Target="../media/image6.png"/><Relationship Id="rId8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6.png"/><Relationship Id="rId4" Type="http://schemas.openxmlformats.org/officeDocument/2006/relationships/image" Target="../media/image35.png"/><Relationship Id="rId5" Type="http://schemas.openxmlformats.org/officeDocument/2006/relationships/image" Target="../media/image6.png"/><Relationship Id="rId6" Type="http://schemas.openxmlformats.org/officeDocument/2006/relationships/image" Target="../media/image76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png"/><Relationship Id="rId10" Type="http://schemas.openxmlformats.org/officeDocument/2006/relationships/image" Target="../media/image38.png"/><Relationship Id="rId13" Type="http://schemas.openxmlformats.org/officeDocument/2006/relationships/image" Target="../media/image41.png"/><Relationship Id="rId1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6.png"/><Relationship Id="rId4" Type="http://schemas.openxmlformats.org/officeDocument/2006/relationships/image" Target="../media/image35.png"/><Relationship Id="rId9" Type="http://schemas.openxmlformats.org/officeDocument/2006/relationships/image" Target="../media/image39.png"/><Relationship Id="rId15" Type="http://schemas.openxmlformats.org/officeDocument/2006/relationships/image" Target="../media/image37.png"/><Relationship Id="rId14" Type="http://schemas.openxmlformats.org/officeDocument/2006/relationships/image" Target="../media/image63.png"/><Relationship Id="rId17" Type="http://schemas.openxmlformats.org/officeDocument/2006/relationships/image" Target="../media/image54.png"/><Relationship Id="rId16" Type="http://schemas.openxmlformats.org/officeDocument/2006/relationships/image" Target="../media/image44.png"/><Relationship Id="rId5" Type="http://schemas.openxmlformats.org/officeDocument/2006/relationships/image" Target="../media/image25.png"/><Relationship Id="rId19" Type="http://schemas.openxmlformats.org/officeDocument/2006/relationships/image" Target="../media/image53.png"/><Relationship Id="rId6" Type="http://schemas.openxmlformats.org/officeDocument/2006/relationships/image" Target="../media/image49.png"/><Relationship Id="rId18" Type="http://schemas.openxmlformats.org/officeDocument/2006/relationships/image" Target="../media/image42.png"/><Relationship Id="rId7" Type="http://schemas.openxmlformats.org/officeDocument/2006/relationships/image" Target="../media/image6.png"/><Relationship Id="rId8" Type="http://schemas.openxmlformats.org/officeDocument/2006/relationships/image" Target="../media/image47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png"/><Relationship Id="rId10" Type="http://schemas.openxmlformats.org/officeDocument/2006/relationships/image" Target="../media/image58.png"/><Relationship Id="rId13" Type="http://schemas.openxmlformats.org/officeDocument/2006/relationships/image" Target="../media/image70.png"/><Relationship Id="rId1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9.png"/><Relationship Id="rId4" Type="http://schemas.openxmlformats.org/officeDocument/2006/relationships/image" Target="../media/image48.png"/><Relationship Id="rId9" Type="http://schemas.openxmlformats.org/officeDocument/2006/relationships/image" Target="../media/image52.png"/><Relationship Id="rId15" Type="http://schemas.openxmlformats.org/officeDocument/2006/relationships/image" Target="../media/image68.png"/><Relationship Id="rId14" Type="http://schemas.openxmlformats.org/officeDocument/2006/relationships/image" Target="../media/image78.png"/><Relationship Id="rId17" Type="http://schemas.openxmlformats.org/officeDocument/2006/relationships/image" Target="../media/image77.png"/><Relationship Id="rId16" Type="http://schemas.openxmlformats.org/officeDocument/2006/relationships/image" Target="../media/image62.png"/><Relationship Id="rId5" Type="http://schemas.openxmlformats.org/officeDocument/2006/relationships/image" Target="../media/image45.png"/><Relationship Id="rId19" Type="http://schemas.openxmlformats.org/officeDocument/2006/relationships/image" Target="../media/image80.png"/><Relationship Id="rId6" Type="http://schemas.openxmlformats.org/officeDocument/2006/relationships/image" Target="../media/image81.png"/><Relationship Id="rId18" Type="http://schemas.openxmlformats.org/officeDocument/2006/relationships/image" Target="../media/image71.png"/><Relationship Id="rId7" Type="http://schemas.openxmlformats.org/officeDocument/2006/relationships/image" Target="../media/image6.png"/><Relationship Id="rId8" Type="http://schemas.openxmlformats.org/officeDocument/2006/relationships/image" Target="../media/image60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94.png"/><Relationship Id="rId22" Type="http://schemas.openxmlformats.org/officeDocument/2006/relationships/image" Target="../media/image91.png"/><Relationship Id="rId21" Type="http://schemas.openxmlformats.org/officeDocument/2006/relationships/image" Target="../media/image93.png"/><Relationship Id="rId24" Type="http://schemas.openxmlformats.org/officeDocument/2006/relationships/image" Target="../media/image84.png"/><Relationship Id="rId23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6.png"/><Relationship Id="rId4" Type="http://schemas.openxmlformats.org/officeDocument/2006/relationships/image" Target="../media/image73.png"/><Relationship Id="rId9" Type="http://schemas.openxmlformats.org/officeDocument/2006/relationships/image" Target="../media/image74.png"/><Relationship Id="rId25" Type="http://schemas.openxmlformats.org/officeDocument/2006/relationships/image" Target="../media/image89.png"/><Relationship Id="rId5" Type="http://schemas.openxmlformats.org/officeDocument/2006/relationships/image" Target="../media/image12.png"/><Relationship Id="rId6" Type="http://schemas.openxmlformats.org/officeDocument/2006/relationships/image" Target="../media/image49.png"/><Relationship Id="rId7" Type="http://schemas.openxmlformats.org/officeDocument/2006/relationships/image" Target="../media/image6.png"/><Relationship Id="rId8" Type="http://schemas.openxmlformats.org/officeDocument/2006/relationships/image" Target="../media/image72.png"/><Relationship Id="rId11" Type="http://schemas.openxmlformats.org/officeDocument/2006/relationships/image" Target="../media/image82.png"/><Relationship Id="rId10" Type="http://schemas.openxmlformats.org/officeDocument/2006/relationships/image" Target="../media/image38.png"/><Relationship Id="rId13" Type="http://schemas.openxmlformats.org/officeDocument/2006/relationships/image" Target="../media/image83.png"/><Relationship Id="rId12" Type="http://schemas.openxmlformats.org/officeDocument/2006/relationships/image" Target="../media/image75.png"/><Relationship Id="rId15" Type="http://schemas.openxmlformats.org/officeDocument/2006/relationships/image" Target="../media/image79.png"/><Relationship Id="rId14" Type="http://schemas.openxmlformats.org/officeDocument/2006/relationships/image" Target="../media/image90.png"/><Relationship Id="rId17" Type="http://schemas.openxmlformats.org/officeDocument/2006/relationships/image" Target="../media/image86.png"/><Relationship Id="rId16" Type="http://schemas.openxmlformats.org/officeDocument/2006/relationships/image" Target="../media/image88.png"/><Relationship Id="rId19" Type="http://schemas.openxmlformats.org/officeDocument/2006/relationships/image" Target="../media/image92.png"/><Relationship Id="rId18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6858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10800" y="41148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28800" y="4743450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" name="Google Shape;20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38651" y="3409950"/>
            <a:ext cx="9144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" name="Google Shape;21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1000" y="381000"/>
            <a:ext cx="3429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" name="Google Shape;22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420475" y="381000"/>
            <a:ext cx="3905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/>
          <p:nvPr/>
        </p:nvSpPr>
        <p:spPr>
          <a:xfrm>
            <a:off x="2464490" y="1771650"/>
            <a:ext cx="7262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Clinical </a:t>
            </a:r>
            <a:r>
              <a:rPr b="1" i="0" lang="en-US" sz="36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EmotiSupport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464490" y="2457450"/>
            <a:ext cx="726287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Interim Presentation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069729" y="3905250"/>
            <a:ext cx="605239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Team Members: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464490" y="4286250"/>
            <a:ext cx="726287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Yuval Reznik, Lior Zvieli, Yoni Libman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9724504" y="6210300"/>
            <a:ext cx="227617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December 19, 2025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" name="Google Shape;3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" name="Google Shape;3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9900" y="10287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" name="Google Shape;3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5271" y="4819650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" name="Google Shape;3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5905500"/>
            <a:ext cx="121920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" name="Google Shape;3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600" y="952500"/>
            <a:ext cx="762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" name="Google Shape;38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9600" y="1219200"/>
            <a:ext cx="35052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" name="Google Shape;39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8200" y="14478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" name="Google Shape;40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95363" y="1581150"/>
            <a:ext cx="2571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" name="Google Shape;41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8200" y="224790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" name="Google Shape;42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8200" y="304800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" name="Google Shape;43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8200" y="361950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" name="Google Shape;44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343400" y="1219200"/>
            <a:ext cx="35052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" name="Google Shape;45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572000" y="14478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" name="Google Shape;46;p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743450" y="1581150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" name="Google Shape;47;p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572000" y="224790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" name="Google Shape;48;p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572000" y="281940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" name="Google Shape;49;p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572000" y="339090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" name="Google Shape;50;p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077200" y="1219200"/>
            <a:ext cx="35052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1" name="Google Shape;51;p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305800" y="14478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" name="Google Shape;52;p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505825" y="1581150"/>
            <a:ext cx="1714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" name="Google Shape;53;p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305800" y="224790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" name="Google Shape;54;p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305800" y="281940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" name="Google Shape;55;p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305800" y="3390900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</a:t>
            </a:r>
            <a:r>
              <a:rPr b="1" i="0" lang="en-US" sz="27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562100" y="1581150"/>
            <a:ext cx="165949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CA5A5"/>
                </a:solidFill>
                <a:latin typeface="Arial"/>
                <a:ea typeface="Arial"/>
                <a:cs typeface="Arial"/>
                <a:sym typeface="Arial"/>
              </a:rPr>
              <a:t>Motivation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066800" y="2171700"/>
            <a:ext cx="2819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Patient messages convey emotional cues intertwined with clinical information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066800" y="2971800"/>
            <a:ext cx="281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Current triage systems overlook emotional signals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066800" y="3543300"/>
            <a:ext cx="281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Results in suboptimal prioritization of patient needs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295900" y="1581150"/>
            <a:ext cx="85617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Goals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800600" y="2171700"/>
            <a:ext cx="281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Develop NLP-based system for emotional intensity 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800600" y="2743200"/>
            <a:ext cx="281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Enable emotion-aware clinical workflows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800600" y="3314700"/>
            <a:ext cx="281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Support administrative processes with emotional context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9029700" y="1581150"/>
            <a:ext cx="118604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DE0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DE047"/>
                </a:solidFill>
              </a:rPr>
              <a:t>Novelty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8534400" y="2171700"/>
            <a:ext cx="281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Emotion intensity prediction (not binary)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8534400" y="2743200"/>
            <a:ext cx="281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Application to telemedicine messages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8534400" y="3314700"/>
            <a:ext cx="281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Privacy-safe synthetic data generation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09600" y="6534150"/>
            <a:ext cx="351383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Clinical EmotiSupport - Interim Presentation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11367790" y="6534150"/>
            <a:ext cx="25753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2/6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6" name="Google Shape;76;g3b1f5a2ccb8_0_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" name="Google Shape;77;g3b1f5a2ccb8_0_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9900" y="10287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" name="Google Shape;78;g3b1f5a2ccb8_0_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952500"/>
            <a:ext cx="762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9" name="Google Shape;79;g3b1f5a2ccb8_0_6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1219200"/>
            <a:ext cx="10972798" cy="51085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g3b1f5a2ccb8_0_68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Previous </a:t>
            </a:r>
            <a:r>
              <a:rPr b="1" i="0" lang="en-US" sz="27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Work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b1f5a2ccb8_0_68"/>
          <p:cNvSpPr/>
          <p:nvPr/>
        </p:nvSpPr>
        <p:spPr>
          <a:xfrm>
            <a:off x="609600" y="6534150"/>
            <a:ext cx="3513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Clinical EmotiSupport - Interim Presentation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b1f5a2ccb8_0_68"/>
          <p:cNvSpPr/>
          <p:nvPr/>
        </p:nvSpPr>
        <p:spPr>
          <a:xfrm>
            <a:off x="11367790" y="6534150"/>
            <a:ext cx="257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3/6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3" name="Google Shape;83;g3b1f5a2ccb8_0_68"/>
          <p:cNvGraphicFramePr/>
          <p:nvPr/>
        </p:nvGraphicFramePr>
        <p:xfrm>
          <a:off x="878400" y="1536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{6337B1A5-B526-4F21-96D4-50989486AB7A}</a:tableStyleId>
              </a:tblPr>
              <a:tblGrid>
                <a:gridCol w="1748225"/>
                <a:gridCol w="1748225"/>
                <a:gridCol w="1748225"/>
                <a:gridCol w="1748225"/>
                <a:gridCol w="1748225"/>
                <a:gridCol w="1748225"/>
              </a:tblGrid>
              <a:tr h="730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lt1"/>
                          </a:solidFill>
                        </a:rPr>
                        <a:t>Title / Year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lt1"/>
                          </a:solidFill>
                        </a:rPr>
                        <a:t>Task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lt1"/>
                          </a:solidFill>
                        </a:rPr>
                        <a:t>Methods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lt1"/>
                          </a:solidFill>
                        </a:rPr>
                        <a:t>Data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lt1"/>
                          </a:solidFill>
                        </a:rPr>
                        <a:t>Results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lt1"/>
                          </a:solidFill>
                        </a:rPr>
                        <a:t>Relation to Our Project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206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GoEmotions (2021)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[Cited by 1229]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Multi-label emotion detection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BERT-based classifiers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58K Reddit comments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High multi-label accuracy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Establishes best practices for emotion modeling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206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ClinicalBERT (2019)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[Cited by 1525]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Clinical NLP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Domain-adapted BERT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MIMIC-III notes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Outperforms general BERT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Motivates domain-aware emotion modeling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206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Emotion Detection in Patient Messages (2020)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[Cited by 507]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Healthcare emotion detection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Transformer classifiers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Patient portal messages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Limited by small datasets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Our synthetic data addresses data scarcity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9" name="Google Shape;8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0" name="Google Shape;9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9900" y="10287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1" name="Google Shape;9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5271" y="4819650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2" name="Google Shape;9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5905500"/>
            <a:ext cx="12191999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3" name="Google Shape;93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600" y="952500"/>
            <a:ext cx="762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4" name="Google Shape;94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9600" y="1219200"/>
            <a:ext cx="3263902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5" name="Google Shape;95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0100" y="14097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6" name="Google Shape;96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2975" y="1504950"/>
            <a:ext cx="1714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" name="Google Shape;97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0100" y="205740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8" name="Google Shape;98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0100" y="236220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9" name="Google Shape;99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0100" y="266700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0" name="Google Shape;100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0100" y="297180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1" name="Google Shape;101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9600" y="3867150"/>
            <a:ext cx="3263902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2" name="Google Shape;102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00100" y="40576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" name="Google Shape;103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09638" y="415290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4" name="Google Shape;104;p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00100" y="470535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5" name="Google Shape;105;p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00100" y="501015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6" name="Google Shape;106;p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00100" y="531495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7" name="Google Shape;107;p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122300" y="1219200"/>
            <a:ext cx="763577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8" name="Google Shape;108;p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279700" y="14097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9" name="Google Shape;109;p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413050" y="1504950"/>
            <a:ext cx="190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0" name="Google Shape;110;p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761617" y="14097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1" name="Google Shape;111;p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918780" y="1504950"/>
            <a:ext cx="1428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Dataset </a:t>
            </a:r>
            <a:r>
              <a:rPr b="1" i="0" lang="en-US" sz="27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1371600" y="1485900"/>
            <a:ext cx="275070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Dataset Overview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028700" y="1981200"/>
            <a:ext cx="17162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Samples: </a:t>
            </a:r>
            <a:r>
              <a:rPr b="1" i="0" lang="en-US" sz="12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N = </a:t>
            </a:r>
            <a:r>
              <a:rPr b="1" lang="en-US" sz="1200">
                <a:solidFill>
                  <a:srgbClr val="E5E7EB"/>
                </a:solidFill>
              </a:rPr>
              <a:t>???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1028700" y="2286000"/>
            <a:ext cx="177272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Language: </a:t>
            </a:r>
            <a:r>
              <a:rPr b="1" i="0" lang="en-US" sz="12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English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028700" y="2590800"/>
            <a:ext cx="338506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Domain: </a:t>
            </a:r>
            <a:r>
              <a:rPr b="1" i="0" lang="en-US" sz="12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Clinical &amp; Administrative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1028700" y="2895600"/>
            <a:ext cx="13891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Format: </a:t>
            </a:r>
            <a:r>
              <a:rPr b="1" i="0" lang="en-US" sz="12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JSONL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1371600" y="4133850"/>
            <a:ext cx="254656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Data Generation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1028700" y="4629150"/>
            <a:ext cx="238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Model: </a:t>
            </a:r>
            <a:r>
              <a:rPr b="1" i="0" lang="en-US" sz="12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DeepSeek-R1:8B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1028700" y="4933950"/>
            <a:ext cx="169753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Inference: </a:t>
            </a:r>
            <a:r>
              <a:rPr b="1" i="0" lang="en-US" sz="12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Ollama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1028700" y="5238750"/>
            <a:ext cx="3094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Prompts: </a:t>
            </a:r>
            <a:r>
              <a:rPr b="1" i="0" lang="en-US" sz="12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Telemedicine communication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4851200" y="1485900"/>
            <a:ext cx="381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CA5A5"/>
                </a:solidFill>
                <a:latin typeface="Arial"/>
                <a:ea typeface="Arial"/>
                <a:cs typeface="Arial"/>
                <a:sym typeface="Arial"/>
              </a:rPr>
              <a:t>Message Length (words)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829950" y="5908925"/>
            <a:ext cx="434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Arial"/>
              <a:buNone/>
            </a:pPr>
            <a:r>
              <a:rPr b="0" i="1" lang="en-US" sz="125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Min / Median / Mean / Max = </a:t>
            </a:r>
            <a:r>
              <a:rPr i="1" lang="en-US" sz="1250">
                <a:solidFill>
                  <a:srgbClr val="D1D5DB"/>
                </a:solidFill>
              </a:rPr>
              <a:t>??</a:t>
            </a:r>
            <a:r>
              <a:rPr b="0" i="1" lang="en-US" sz="125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i="1" lang="en-US" sz="1250">
                <a:solidFill>
                  <a:srgbClr val="D1D5DB"/>
                </a:solidFill>
              </a:rPr>
              <a:t>??</a:t>
            </a:r>
            <a:r>
              <a:rPr b="0" i="1" lang="en-US" sz="125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i="1" lang="en-US" sz="1250">
                <a:solidFill>
                  <a:srgbClr val="D1D5DB"/>
                </a:solidFill>
              </a:rPr>
              <a:t>??</a:t>
            </a:r>
            <a:r>
              <a:rPr b="0" i="1" lang="en-US" sz="125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i="1" lang="en-US" sz="1250">
                <a:solidFill>
                  <a:srgbClr val="D1D5DB"/>
                </a:solidFill>
              </a:rPr>
              <a:t>??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8333131" y="1485900"/>
            <a:ext cx="309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DE0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DE047"/>
                </a:solidFill>
              </a:rPr>
              <a:t>Distribution of Emotions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09600" y="6534150"/>
            <a:ext cx="351383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Clinical EmotiSupport - Interim Presentation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11367790" y="6534150"/>
            <a:ext cx="25753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4/6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2" name="Google Shape;1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7086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3" name="Google Shape;13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9900" y="106293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4" name="Google Shape;13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5271" y="5002560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5" name="Google Shape;13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6134100"/>
            <a:ext cx="121920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6" name="Google Shape;13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600" y="952500"/>
            <a:ext cx="762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7" name="Google Shape;137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9600" y="1219200"/>
            <a:ext cx="5018773" cy="22756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8" name="Google Shape;138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0100" y="1409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9" name="Google Shape;139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4400" y="15240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0" name="Google Shape;140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57300" y="198120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1" name="Google Shape;141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57300" y="228600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2" name="Google Shape;142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57300" y="259080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3" name="Google Shape;143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57300" y="289560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4" name="Google Shape;144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57300" y="320040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5" name="Google Shape;145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831425" y="1219200"/>
            <a:ext cx="5750974" cy="35144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6" name="Google Shape;146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059200" y="141697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7" name="Google Shape;147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173500" y="1531279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5"/>
          <p:cNvSpPr/>
          <p:nvPr/>
        </p:nvSpPr>
        <p:spPr>
          <a:xfrm>
            <a:off x="609600" y="457200"/>
            <a:ext cx="13167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Baseline Solution &amp; </a:t>
            </a:r>
            <a:r>
              <a:rPr b="1" i="0" lang="en-US" sz="27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295400" y="1447800"/>
            <a:ext cx="296054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Model Architecture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485900" y="1905000"/>
            <a:ext cx="39029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Architecture:</a:t>
            </a:r>
            <a:r>
              <a:rPr b="0" i="0" lang="en-US" sz="12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 DistilBERT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1485900" y="2209800"/>
            <a:ext cx="414248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Task:</a:t>
            </a:r>
            <a:r>
              <a:rPr b="0" i="0" lang="en-US" sz="12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 Multi-label emotion </a:t>
            </a:r>
            <a:r>
              <a:rPr lang="en-US" sz="1200">
                <a:solidFill>
                  <a:srgbClr val="E5E7EB"/>
                </a:solidFill>
              </a:rPr>
              <a:t>classification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1485900" y="2514600"/>
            <a:ext cx="252924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Input:</a:t>
            </a:r>
            <a:r>
              <a:rPr b="0" i="0" lang="en-US" sz="12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 Patient message 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1485900" y="2819400"/>
            <a:ext cx="407604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r>
              <a:rPr b="0" i="0" lang="en-US" sz="12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 Emotion</a:t>
            </a:r>
            <a:r>
              <a:rPr lang="en-US" sz="1200">
                <a:solidFill>
                  <a:srgbClr val="E5E7EB"/>
                </a:solidFill>
              </a:rPr>
              <a:t> classification</a:t>
            </a:r>
            <a:r>
              <a:rPr b="0" i="0" lang="en-US" sz="12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 per label (∈ [0,1])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1485900" y="3124200"/>
            <a:ext cx="458682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Training:</a:t>
            </a:r>
            <a:r>
              <a:rPr b="0" i="0" lang="en-US" sz="12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 Fine-tuned on synthetic 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6554500" y="1455079"/>
            <a:ext cx="3288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DE04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DE047"/>
                </a:solidFill>
                <a:latin typeface="Arial"/>
                <a:ea typeface="Arial"/>
                <a:cs typeface="Arial"/>
                <a:sym typeface="Arial"/>
              </a:rPr>
              <a:t>Per-Emotion Analysis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609600" y="6762750"/>
            <a:ext cx="351383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Clinical EmotiSupport - Interim Presentation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11367790" y="6762750"/>
            <a:ext cx="25753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5/6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8" name="Google Shape;158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9600" y="3650025"/>
            <a:ext cx="5018773" cy="25983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9" name="Google Shape;159;p5"/>
          <p:cNvGraphicFramePr/>
          <p:nvPr/>
        </p:nvGraphicFramePr>
        <p:xfrm>
          <a:off x="810683" y="46162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{900CC919-D8A9-4820-A627-C5904C33AFAE}</a:tableStyleId>
              </a:tblPr>
              <a:tblGrid>
                <a:gridCol w="1854050"/>
                <a:gridCol w="1136900"/>
                <a:gridCol w="787100"/>
                <a:gridCol w="1101925"/>
              </a:tblGrid>
              <a:tr h="408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Metric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Precision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Recall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F1-Score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2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Micro Average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</a:rPr>
                        <a:t>0.415</a:t>
                      </a:r>
                      <a:endParaRPr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</a:rPr>
                        <a:t>0.692</a:t>
                      </a:r>
                      <a:endParaRPr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0.519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2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Macro Average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</a:rPr>
                        <a:t>0.410</a:t>
                      </a:r>
                      <a:endParaRPr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</a:rPr>
                        <a:t>0.689</a:t>
                      </a:r>
                      <a:endParaRPr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0.505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preencoded.png" id="160" name="Google Shape;160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3750" y="385868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1" name="Google Shape;161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08050" y="3972983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/>
          <p:cNvSpPr/>
          <p:nvPr/>
        </p:nvSpPr>
        <p:spPr>
          <a:xfrm>
            <a:off x="1289050" y="3896783"/>
            <a:ext cx="2960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5EEAD4"/>
                </a:solidFill>
              </a:rPr>
              <a:t>Overall Metrics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3" name="Google Shape;163;p5"/>
          <p:cNvGraphicFramePr/>
          <p:nvPr/>
        </p:nvGraphicFramePr>
        <p:xfrm>
          <a:off x="6072738" y="18539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{900CC919-D8A9-4820-A627-C5904C33AFAE}</a:tableStyleId>
              </a:tblPr>
              <a:tblGrid>
                <a:gridCol w="1519725"/>
                <a:gridCol w="1001000"/>
                <a:gridCol w="934450"/>
                <a:gridCol w="985550"/>
                <a:gridCol w="891600"/>
              </a:tblGrid>
              <a:tr h="39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Emotion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Precision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Recall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F1-Score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Support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5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Anxiety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0.44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0.41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0.42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184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5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Confusion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0.50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0.81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0.62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173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5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Frustration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0.46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0.82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0.59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194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5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Anger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0.34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0.86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0.49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154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5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Disappointment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0.38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0.58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0.46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173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5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Satisfaction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0.35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0.65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0.45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23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preencoded.png" id="164" name="Google Shape;16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84325" y="4809075"/>
            <a:ext cx="5698076" cy="1496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5" name="Google Shape;165;p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072750" y="4931825"/>
            <a:ext cx="381000" cy="2862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6" name="Google Shape;166;p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187050" y="5017702"/>
            <a:ext cx="152400" cy="114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7" name="Google Shape;167;p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072750" y="5332583"/>
            <a:ext cx="1562100" cy="8015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8" name="Google Shape;168;p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787250" y="5332583"/>
            <a:ext cx="1562100" cy="8015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9" name="Google Shape;169;p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9501750" y="5332583"/>
            <a:ext cx="1562100" cy="80151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5"/>
          <p:cNvSpPr/>
          <p:nvPr/>
        </p:nvSpPr>
        <p:spPr>
          <a:xfrm>
            <a:off x="6568050" y="4960451"/>
            <a:ext cx="28755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CA5A5"/>
                </a:solidFill>
                <a:latin typeface="Arial"/>
                <a:ea typeface="Arial"/>
                <a:cs typeface="Arial"/>
                <a:sym typeface="Arial"/>
              </a:rPr>
              <a:t>Evaluation Metrics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6225150" y="5447086"/>
            <a:ext cx="12573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Mean Absolute Error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6267483" y="5793717"/>
            <a:ext cx="15087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2250"/>
              <a:buFont typeface="Arial"/>
              <a:buNone/>
            </a:pPr>
            <a:r>
              <a:rPr b="1" i="0" lang="en-US" sz="2050" u="none" cap="none" strike="noStrike">
                <a:solidFill>
                  <a:srgbClr val="FCA5A5"/>
                </a:solidFill>
                <a:latin typeface="Arial"/>
                <a:ea typeface="Arial"/>
                <a:cs typeface="Arial"/>
                <a:sym typeface="Arial"/>
              </a:rPr>
              <a:t>0.</a:t>
            </a:r>
            <a:r>
              <a:rPr b="1" lang="en-US" sz="2050">
                <a:solidFill>
                  <a:srgbClr val="FCA5A5"/>
                </a:solidFill>
              </a:rPr>
              <a:t>4435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7939650" y="5447075"/>
            <a:ext cx="15087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Root Mean Square Error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7981983" y="5793717"/>
            <a:ext cx="15087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2250"/>
              <a:buFont typeface="Arial"/>
              <a:buNone/>
            </a:pPr>
            <a:r>
              <a:rPr b="1" i="0" lang="en-US" sz="2050" u="none" cap="none" strike="noStrike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0.</a:t>
            </a:r>
            <a:r>
              <a:rPr b="1" lang="en-US" sz="2050">
                <a:solidFill>
                  <a:srgbClr val="5EEAD4"/>
                </a:solidFill>
              </a:rPr>
              <a:t>4512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9654150" y="5447086"/>
            <a:ext cx="12573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Pearson Correlation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9696483" y="5793717"/>
            <a:ext cx="15087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DE047"/>
              </a:buClr>
              <a:buSzPts val="2250"/>
              <a:buFont typeface="Arial"/>
              <a:buNone/>
            </a:pPr>
            <a:r>
              <a:rPr b="1" i="0" lang="en-US" sz="2050" u="none" cap="none" strike="noStrike">
                <a:solidFill>
                  <a:srgbClr val="FDE047"/>
                </a:solidFill>
                <a:latin typeface="Arial"/>
                <a:ea typeface="Arial"/>
                <a:cs typeface="Arial"/>
                <a:sym typeface="Arial"/>
              </a:rPr>
              <a:t>0.</a:t>
            </a:r>
            <a:r>
              <a:rPr b="1" lang="en-US" sz="2050">
                <a:solidFill>
                  <a:srgbClr val="FDE047"/>
                </a:solidFill>
              </a:rPr>
              <a:t>3598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058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3" name="Google Shape;18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9900" y="10287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4" name="Google Shape;18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5271" y="4819650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5" name="Google Shape;18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5905500"/>
            <a:ext cx="121920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6" name="Google Shape;186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600" y="952500"/>
            <a:ext cx="762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7" name="Google Shape;187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9600" y="1371600"/>
            <a:ext cx="3505200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8" name="Google Shape;188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15240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9" name="Google Shape;189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4400" y="1628775"/>
            <a:ext cx="1714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0" name="Google Shape;190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343400" y="1371600"/>
            <a:ext cx="3505200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1" name="Google Shape;191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495800" y="15240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2" name="Google Shape;192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614863" y="1628775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3" name="Google Shape;193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077200" y="1371600"/>
            <a:ext cx="3505200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4" name="Google Shape;194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229600" y="15240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5" name="Google Shape;195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348663" y="1628775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6" name="Google Shape;196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09600" y="3152775"/>
            <a:ext cx="3505200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7" name="Google Shape;197;p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62000" y="33051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8" name="Google Shape;198;p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904875" y="3409950"/>
            <a:ext cx="190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9" name="Google Shape;199;p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343400" y="3152775"/>
            <a:ext cx="3505200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0" name="Google Shape;200;p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495800" y="33051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1" name="Google Shape;201;p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638675" y="3409950"/>
            <a:ext cx="190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2" name="Google Shape;202;p6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8077200" y="3152775"/>
            <a:ext cx="3505200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3" name="Google Shape;203;p6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8229600" y="33051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4" name="Google Shape;204;p6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8372475" y="3409950"/>
            <a:ext cx="190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6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Plan &amp; </a:t>
            </a:r>
            <a:r>
              <a:rPr b="1" i="0" lang="en-US" sz="27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1352550" y="1628775"/>
            <a:ext cx="240601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Dataset Expansion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762000" y="2076450"/>
            <a:ext cx="299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Generate 500–2000 additional samples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838200" y="2390775"/>
            <a:ext cx="20813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highlight>
                  <a:srgbClr val="14B8A6"/>
                </a:highlight>
                <a:latin typeface="Arial"/>
                <a:ea typeface="Arial"/>
                <a:cs typeface="Arial"/>
                <a:sym typeface="Arial"/>
              </a:rPr>
              <a:t>IMPROVED ROBUSTNESS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5086350" y="1628775"/>
            <a:ext cx="204079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DE04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DE047"/>
                </a:solidFill>
                <a:latin typeface="Arial"/>
                <a:ea typeface="Arial"/>
                <a:cs typeface="Arial"/>
                <a:sym typeface="Arial"/>
              </a:rPr>
              <a:t>Label Balancing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4495800" y="207645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Target rare emotions explicitly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4572000" y="2390775"/>
            <a:ext cx="132391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DE04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DE047"/>
                </a:solidFill>
                <a:highlight>
                  <a:srgbClr val="EAB308"/>
                </a:highlight>
                <a:latin typeface="Arial"/>
                <a:ea typeface="Arial"/>
                <a:cs typeface="Arial"/>
                <a:sym typeface="Arial"/>
              </a:rPr>
              <a:t>REDUCED BIAS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8820150" y="1628775"/>
            <a:ext cx="19598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Model Upgrade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8229600" y="207645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Evaluate ClinicalBERT / RoBERTa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8305800" y="2390775"/>
            <a:ext cx="165377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3C5FD"/>
                </a:solidFill>
                <a:highlight>
                  <a:srgbClr val="3B82F6"/>
                </a:highlight>
                <a:latin typeface="Arial"/>
                <a:ea typeface="Arial"/>
                <a:cs typeface="Arial"/>
                <a:sym typeface="Arial"/>
              </a:rPr>
              <a:t>HIGHER ACCURACY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1352550" y="3409950"/>
            <a:ext cx="251763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D8B4FE"/>
                </a:solidFill>
                <a:latin typeface="Arial"/>
                <a:ea typeface="Arial"/>
                <a:cs typeface="Arial"/>
                <a:sym typeface="Arial"/>
              </a:rPr>
              <a:t>Multi-task Learning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762000" y="3857625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Joint domain + emotion prediction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838200" y="4171950"/>
            <a:ext cx="2712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8B4FE"/>
                </a:solidFill>
                <a:highlight>
                  <a:srgbClr val="A855F7"/>
                </a:highlight>
                <a:latin typeface="Arial"/>
                <a:ea typeface="Arial"/>
                <a:cs typeface="Arial"/>
                <a:sym typeface="Arial"/>
              </a:rPr>
              <a:t>BETTER CONTEXTUAL MODELING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5086350" y="3409950"/>
            <a:ext cx="180290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CA5A5"/>
                </a:solidFill>
                <a:latin typeface="Arial"/>
                <a:ea typeface="Arial"/>
                <a:cs typeface="Arial"/>
                <a:sym typeface="Arial"/>
              </a:rPr>
              <a:t>Error Analysis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495800" y="3857625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Manual inspection of failure cases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4572000" y="4171950"/>
            <a:ext cx="248548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A5A5"/>
                </a:solidFill>
                <a:highlight>
                  <a:srgbClr val="EF4444"/>
                </a:highlight>
                <a:latin typeface="Arial"/>
                <a:ea typeface="Arial"/>
                <a:cs typeface="Arial"/>
                <a:sym typeface="Arial"/>
              </a:rPr>
              <a:t>IMPROVED INTERPRETABILITY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8820150" y="3409950"/>
            <a:ext cx="236976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6EFAC"/>
                </a:solidFill>
                <a:latin typeface="Arial"/>
                <a:ea typeface="Arial"/>
                <a:cs typeface="Arial"/>
                <a:sym typeface="Arial"/>
              </a:rPr>
              <a:t>Final Presentation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8229600" y="3857625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Summarize results &amp; insights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8305800" y="4171950"/>
            <a:ext cx="183344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86EFAC"/>
                </a:solidFill>
                <a:highlight>
                  <a:srgbClr val="22C55E"/>
                </a:highlight>
                <a:latin typeface="Arial"/>
                <a:ea typeface="Arial"/>
                <a:cs typeface="Arial"/>
                <a:sym typeface="Arial"/>
              </a:rPr>
              <a:t>COURSE SUBMISSION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609600" y="6534150"/>
            <a:ext cx="351383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Clinical EmotiSupport - Interim Presentation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11367790" y="6534150"/>
            <a:ext cx="25753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6/6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2025-12-19T13:09:33Z</dcterms:created>
  <dc:creator>PptxGenJS</dc:creator>
</cp:coreProperties>
</file>